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8288000" cy="10287000"/>
  <p:notesSz cx="6858000" cy="9144000"/>
  <p:embeddedFontLst>
    <p:embeddedFont>
      <p:font typeface="Arimo" panose="020B0604020202020204" charset="0"/>
      <p:regular r:id="rId16"/>
    </p:embeddedFont>
    <p:embeddedFont>
      <p:font typeface="Barlow" panose="020F0502020204030204" pitchFamily="2" charset="0"/>
      <p:regular r:id="rId17"/>
    </p:embeddedFont>
    <p:embeddedFont>
      <p:font typeface="Barlow Bold" panose="020B0604020202020204" charset="0"/>
      <p:regular r:id="rId18"/>
    </p:embeddedFont>
    <p:embeddedFont>
      <p:font typeface="TLWG Typewriter" panose="020B0604020202020204" charset="-3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jpe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18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2.svg"/><Relationship Id="rId7" Type="http://schemas.openxmlformats.org/officeDocument/2006/relationships/image" Target="../media/image18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2.svg"/><Relationship Id="rId7" Type="http://schemas.openxmlformats.org/officeDocument/2006/relationships/image" Target="../media/image18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30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hyperlink" Target="https://github.com/Alongtis/Intrusion-Alert-System" TargetMode="External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31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42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svg"/><Relationship Id="rId14" Type="http://schemas.openxmlformats.org/officeDocument/2006/relationships/image" Target="../media/image4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9660">
            <a:off x="11634140" y="1018994"/>
            <a:ext cx="3385385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14460">
            <a:off x="14722916" y="1649359"/>
            <a:ext cx="226512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11280">
            <a:off x="16045967" y="1165517"/>
            <a:ext cx="289718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128721" y="1775517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706000" y="632879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5"/>
                </a:lnTo>
                <a:lnTo>
                  <a:pt x="0" y="584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1381042" y="851764"/>
            <a:ext cx="576739" cy="575977"/>
            <a:chOff x="0" y="0"/>
            <a:chExt cx="768985" cy="7679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8985" cy="767969"/>
            </a:xfrm>
            <a:custGeom>
              <a:avLst/>
              <a:gdLst/>
              <a:ahLst/>
              <a:cxnLst/>
              <a:rect l="l" t="t" r="r" b="b"/>
              <a:pathLst>
                <a:path w="768985" h="767969">
                  <a:moveTo>
                    <a:pt x="384429" y="0"/>
                  </a:moveTo>
                  <a:cubicBezTo>
                    <a:pt x="172085" y="0"/>
                    <a:pt x="0" y="171958"/>
                    <a:pt x="0" y="383667"/>
                  </a:cubicBezTo>
                  <a:cubicBezTo>
                    <a:pt x="0" y="596011"/>
                    <a:pt x="172085" y="767969"/>
                    <a:pt x="384429" y="767969"/>
                  </a:cubicBezTo>
                  <a:cubicBezTo>
                    <a:pt x="596773" y="767969"/>
                    <a:pt x="768985" y="596011"/>
                    <a:pt x="768985" y="383667"/>
                  </a:cubicBezTo>
                  <a:cubicBezTo>
                    <a:pt x="768985" y="171958"/>
                    <a:pt x="596900" y="0"/>
                    <a:pt x="384429" y="0"/>
                  </a:cubicBezTo>
                  <a:close/>
                </a:path>
              </a:pathLst>
            </a:custGeom>
            <a:solidFill>
              <a:srgbClr val="77C6F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1376717" y="846715"/>
            <a:ext cx="585359" cy="586083"/>
          </a:xfrm>
          <a:custGeom>
            <a:avLst/>
            <a:gdLst/>
            <a:ahLst/>
            <a:cxnLst/>
            <a:rect l="l" t="t" r="r" b="b"/>
            <a:pathLst>
              <a:path w="585359" h="586083">
                <a:moveTo>
                  <a:pt x="0" y="0"/>
                </a:moveTo>
                <a:lnTo>
                  <a:pt x="585359" y="0"/>
                </a:lnTo>
                <a:lnTo>
                  <a:pt x="585359" y="586083"/>
                </a:lnTo>
                <a:lnTo>
                  <a:pt x="0" y="586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1" r="-6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1454479" y="924477"/>
            <a:ext cx="430530" cy="429863"/>
            <a:chOff x="0" y="0"/>
            <a:chExt cx="574040" cy="5731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4040" cy="573151"/>
            </a:xfrm>
            <a:custGeom>
              <a:avLst/>
              <a:gdLst/>
              <a:ahLst/>
              <a:cxnLst/>
              <a:rect l="l" t="t" r="r" b="b"/>
              <a:pathLst>
                <a:path w="574040" h="573151">
                  <a:moveTo>
                    <a:pt x="287020" y="0"/>
                  </a:moveTo>
                  <a:cubicBezTo>
                    <a:pt x="128651" y="0"/>
                    <a:pt x="0" y="127762"/>
                    <a:pt x="0" y="286131"/>
                  </a:cubicBezTo>
                  <a:cubicBezTo>
                    <a:pt x="0" y="444500"/>
                    <a:pt x="128651" y="573151"/>
                    <a:pt x="287020" y="573151"/>
                  </a:cubicBezTo>
                  <a:cubicBezTo>
                    <a:pt x="445389" y="573151"/>
                    <a:pt x="574040" y="444627"/>
                    <a:pt x="574040" y="286131"/>
                  </a:cubicBezTo>
                  <a:cubicBezTo>
                    <a:pt x="574040" y="127635"/>
                    <a:pt x="445516" y="0"/>
                    <a:pt x="2870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449441" y="919439"/>
            <a:ext cx="439198" cy="439922"/>
          </a:xfrm>
          <a:custGeom>
            <a:avLst/>
            <a:gdLst/>
            <a:ahLst/>
            <a:cxnLst/>
            <a:rect l="l" t="t" r="r" b="b"/>
            <a:pathLst>
              <a:path w="439198" h="439922">
                <a:moveTo>
                  <a:pt x="0" y="0"/>
                </a:moveTo>
                <a:lnTo>
                  <a:pt x="439197" y="0"/>
                </a:lnTo>
                <a:lnTo>
                  <a:pt x="439197" y="439921"/>
                </a:lnTo>
                <a:lnTo>
                  <a:pt x="0" y="4399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2" r="-8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1532956" y="1003678"/>
            <a:ext cx="271462" cy="271462"/>
            <a:chOff x="0" y="0"/>
            <a:chExt cx="361950" cy="3619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1356" y="0"/>
                  </a:moveTo>
                  <a:cubicBezTo>
                    <a:pt x="81280" y="0"/>
                    <a:pt x="0" y="81407"/>
                    <a:pt x="0" y="180594"/>
                  </a:cubicBezTo>
                  <a:cubicBezTo>
                    <a:pt x="0" y="280543"/>
                    <a:pt x="81280" y="361950"/>
                    <a:pt x="181356" y="361950"/>
                  </a:cubicBezTo>
                  <a:cubicBezTo>
                    <a:pt x="281432" y="361950"/>
                    <a:pt x="361950" y="280543"/>
                    <a:pt x="361950" y="180594"/>
                  </a:cubicBezTo>
                  <a:cubicBezTo>
                    <a:pt x="361950" y="81407"/>
                    <a:pt x="281305" y="0"/>
                    <a:pt x="181356" y="0"/>
                  </a:cubicBezTo>
                  <a:close/>
                </a:path>
              </a:pathLst>
            </a:custGeom>
            <a:solidFill>
              <a:srgbClr val="77C6F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528641" y="999363"/>
            <a:ext cx="281521" cy="280797"/>
          </a:xfrm>
          <a:custGeom>
            <a:avLst/>
            <a:gdLst/>
            <a:ahLst/>
            <a:cxnLst/>
            <a:rect l="l" t="t" r="r" b="b"/>
            <a:pathLst>
              <a:path w="281521" h="280797">
                <a:moveTo>
                  <a:pt x="0" y="0"/>
                </a:moveTo>
                <a:lnTo>
                  <a:pt x="281521" y="0"/>
                </a:lnTo>
                <a:lnTo>
                  <a:pt x="281521" y="280797"/>
                </a:lnTo>
                <a:lnTo>
                  <a:pt x="0" y="2807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28" b="-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0886399" y="578882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6979760" y="342005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6137360" y="316368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301676" y="3013196"/>
            <a:ext cx="8840876" cy="7272718"/>
          </a:xfrm>
          <a:custGeom>
            <a:avLst/>
            <a:gdLst/>
            <a:ahLst/>
            <a:cxnLst/>
            <a:rect l="l" t="t" r="r" b="b"/>
            <a:pathLst>
              <a:path w="8840876" h="7272718">
                <a:moveTo>
                  <a:pt x="0" y="0"/>
                </a:moveTo>
                <a:lnTo>
                  <a:pt x="8840876" y="0"/>
                </a:lnTo>
                <a:lnTo>
                  <a:pt x="8840876" y="7272718"/>
                </a:lnTo>
                <a:lnTo>
                  <a:pt x="0" y="7272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" r="-1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9144000" y="3695757"/>
            <a:ext cx="8172002" cy="2541499"/>
            <a:chOff x="0" y="0"/>
            <a:chExt cx="10896003" cy="33886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895965" cy="3388614"/>
            </a:xfrm>
            <a:custGeom>
              <a:avLst/>
              <a:gdLst/>
              <a:ahLst/>
              <a:cxnLst/>
              <a:rect l="l" t="t" r="r" b="b"/>
              <a:pathLst>
                <a:path w="10895965" h="3388614">
                  <a:moveTo>
                    <a:pt x="0" y="0"/>
                  </a:moveTo>
                  <a:lnTo>
                    <a:pt x="10895965" y="0"/>
                  </a:lnTo>
                  <a:lnTo>
                    <a:pt x="10895965" y="3388614"/>
                  </a:lnTo>
                  <a:lnTo>
                    <a:pt x="0" y="338861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t="-12609" b="-126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44000" y="3731476"/>
            <a:ext cx="8172002" cy="2505789"/>
            <a:chOff x="0" y="0"/>
            <a:chExt cx="10896003" cy="334105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896002" cy="3341047"/>
            </a:xfrm>
            <a:custGeom>
              <a:avLst/>
              <a:gdLst/>
              <a:ahLst/>
              <a:cxnLst/>
              <a:rect l="l" t="t" r="r" b="b"/>
              <a:pathLst>
                <a:path w="10896002" h="3341047">
                  <a:moveTo>
                    <a:pt x="0" y="0"/>
                  </a:moveTo>
                  <a:lnTo>
                    <a:pt x="10896002" y="0"/>
                  </a:lnTo>
                  <a:lnTo>
                    <a:pt x="10896002" y="3341047"/>
                  </a:lnTo>
                  <a:lnTo>
                    <a:pt x="0" y="3341047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t="-13545" b="-135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47625"/>
              <a:ext cx="10896003" cy="329342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8077"/>
                </a:lnSpc>
              </a:pPr>
              <a:r>
                <a:rPr lang="en-US" sz="7478">
                  <a:solidFill>
                    <a:srgbClr val="494949"/>
                  </a:solidFill>
                  <a:latin typeface="Arimo"/>
                  <a:ea typeface="Arimo"/>
                  <a:cs typeface="Arimo"/>
                  <a:sym typeface="Arimo"/>
                </a:rPr>
                <a:t>Intrusion Alert System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142552" y="6625381"/>
            <a:ext cx="7989122" cy="82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32"/>
              </a:lnSpc>
            </a:pPr>
            <a:r>
              <a:rPr lang="en-US" sz="3600" b="1">
                <a:solidFill>
                  <a:srgbClr val="77C6FC"/>
                </a:solidFill>
                <a:latin typeface="Barlow Bold"/>
                <a:ea typeface="Barlow Bold"/>
                <a:cs typeface="Barlow Bold"/>
                <a:sym typeface="Barlow Bold"/>
              </a:rPr>
              <a:t>CPE-213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42552" y="5965288"/>
            <a:ext cx="7989122" cy="684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32"/>
              </a:lnSpc>
            </a:pPr>
            <a:r>
              <a:rPr lang="en-US" sz="3600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GP-NAME: 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69035" y="8866080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6480">
            <a:off x="14324133" y="7820473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59042" y="8584559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48478" y="7441197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665835" y="6425279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6480">
            <a:off x="-1068753" y="2493197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66156" y="583921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56316" y="2306879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72959" y="3558245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65442" y="4006082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19" y="0"/>
                </a:lnTo>
                <a:lnTo>
                  <a:pt x="349919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576083" y="41688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259042" y="997776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994876" y="6858724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7" y="0"/>
                </a:lnTo>
                <a:lnTo>
                  <a:pt x="349197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rot="7500">
            <a:off x="14639125" y="2151555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rot="7500">
            <a:off x="-739359" y="8122510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26852" y="915901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7"/>
                </a:lnTo>
                <a:lnTo>
                  <a:pt x="0" y="217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326852" y="786373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6705336" y="289069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6705336" y="45277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3196619" y="2716178"/>
            <a:ext cx="11941407" cy="370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67"/>
              </a:lnSpc>
            </a:pPr>
            <a:r>
              <a:rPr lang="en-US" sz="3498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ระบบสื่อสารรหัสมอร์สไร้สายและตรวจจับสิ่งกีดขวางระยะใกล้ด้วย ESP32 จำนวน 2 บอร์ด โดยแบ่งการทำงานเป็นโหนดส่งข้อมูล (Transmitter Node) ที่มาพร้อมคีย์บอร์ดเสมือนและเรดาร์อัลตราโซนิก และโหนดรับข้อมูล (Receiver Node) ที่ทำหน้าที่เป็น Wi-Fi Access Point ถอดรหัสและแสดงสัญญาณเสียง/ภาพ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47765" y="1160059"/>
            <a:ext cx="2998965" cy="588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3"/>
              </a:lnSpc>
            </a:pPr>
            <a:r>
              <a:rPr lang="en-US" sz="4919" u="sng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Overview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69035" y="8866080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6480">
            <a:off x="14324133" y="7820473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59042" y="8584559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48478" y="7441197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665835" y="6425279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6480">
            <a:off x="-1068753" y="2493197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66156" y="583921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56316" y="2306879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72959" y="3558245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65442" y="4006082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19" y="0"/>
                </a:lnTo>
                <a:lnTo>
                  <a:pt x="349919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576083" y="41688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259042" y="997776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994876" y="6858724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7" y="0"/>
                </a:lnTo>
                <a:lnTo>
                  <a:pt x="349197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rot="7500">
            <a:off x="14639125" y="2151555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rot="7500">
            <a:off x="-739359" y="8122510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26852" y="915901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7"/>
                </a:lnTo>
                <a:lnTo>
                  <a:pt x="0" y="217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326852" y="786373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6705336" y="289069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6705336" y="45277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330777" y="976189"/>
            <a:ext cx="9494806" cy="493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8"/>
              </a:lnSpc>
            </a:pPr>
            <a:r>
              <a:rPr lang="en-US" sz="4020" b="1" u="sng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Project Details &amp; Requirements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30777" y="2088994"/>
            <a:ext cx="11901049" cy="373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521" lvl="2" indent="-243840" algn="l">
              <a:lnSpc>
                <a:spcPts val="5760"/>
              </a:lnSpc>
              <a:buFont typeface="Arial"/>
              <a:buChar char="⚬"/>
            </a:pPr>
            <a:r>
              <a:rPr lang="en-US" sz="32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สามารถตรวจจับระยะวัตถุที่เข้ามาในระยะ</a:t>
            </a:r>
          </a:p>
          <a:p>
            <a:pPr marL="731521" lvl="2" indent="-243840" algn="l">
              <a:lnSpc>
                <a:spcPts val="5760"/>
              </a:lnSpc>
              <a:buFont typeface="Arial"/>
              <a:buChar char="⚬"/>
            </a:pPr>
            <a:r>
              <a:rPr lang="en-US" sz="32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สามารถส่งสัญญาณเสียงเตือนเมื่อวัตถุเข้ามาในระยะ</a:t>
            </a:r>
          </a:p>
          <a:p>
            <a:pPr marL="731521" lvl="2" indent="-243840" algn="l">
              <a:lnSpc>
                <a:spcPts val="5760"/>
              </a:lnSpc>
              <a:buFont typeface="Arial"/>
              <a:buChar char="⚬"/>
            </a:pPr>
            <a:r>
              <a:rPr lang="en-US" sz="32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มีไฟ led แสดงเมื่อมีวัตถุเข้ามาในระยะ</a:t>
            </a:r>
          </a:p>
          <a:p>
            <a:pPr marL="731521" lvl="2" indent="-243840" algn="l">
              <a:lnSpc>
                <a:spcPts val="5760"/>
              </a:lnSpc>
              <a:buFont typeface="Arial"/>
              <a:buChar char="⚬"/>
            </a:pPr>
            <a:r>
              <a:rPr lang="en-US" sz="32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สามารถส่งข้อความแปลงเป็นรหัสมอร์สด้วยแป้นพิมพ์ไปยังเครื่องรับได้</a:t>
            </a:r>
          </a:p>
          <a:p>
            <a:pPr marL="731521" lvl="2" indent="-243840" algn="l">
              <a:lnSpc>
                <a:spcPts val="5760"/>
              </a:lnSpc>
              <a:buFont typeface="Arial"/>
              <a:buChar char="⚬"/>
            </a:pPr>
            <a:r>
              <a:rPr lang="en-US" sz="32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เครื่องรับสามารถรับรหัสมอร์สจากเครื่องส่งและแปลงเป็ยข้อความ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6620">
            <a:off x="-227543" y="7666396"/>
            <a:ext cx="1970675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19980">
            <a:off x="-372008" y="9319517"/>
            <a:ext cx="1637538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01199" y="8335442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95923" y="6448320"/>
            <a:ext cx="585359" cy="586083"/>
          </a:xfrm>
          <a:custGeom>
            <a:avLst/>
            <a:gdLst/>
            <a:ahLst/>
            <a:cxnLst/>
            <a:rect l="l" t="t" r="r" b="b"/>
            <a:pathLst>
              <a:path w="585359" h="586083">
                <a:moveTo>
                  <a:pt x="0" y="0"/>
                </a:moveTo>
                <a:lnTo>
                  <a:pt x="585359" y="0"/>
                </a:lnTo>
                <a:lnTo>
                  <a:pt x="585359" y="586083"/>
                </a:lnTo>
                <a:lnTo>
                  <a:pt x="0" y="586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12660">
            <a:off x="14254924" y="1123398"/>
            <a:ext cx="25919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3980">
            <a:off x="16329565" y="813797"/>
            <a:ext cx="2340064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128721" y="1054084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068082" y="342005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7516161" y="459362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979760" y="342005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919601" y="758466"/>
            <a:ext cx="7072636" cy="62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u="sng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Project Specification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5555" y="1740694"/>
            <a:ext cx="11901049" cy="590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521" lvl="2" indent="-243840" algn="l">
              <a:lnSpc>
                <a:spcPts val="5760"/>
              </a:lnSpc>
              <a:buFont typeface="Arial"/>
              <a:buChar char="⚬"/>
            </a:pPr>
            <a:r>
              <a:rPr lang="en-US" sz="32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 Microcontroller : ESP32 DOIT DEVKIT V1 </a:t>
            </a:r>
          </a:p>
          <a:p>
            <a:pPr marL="731521" lvl="2" indent="-243840" algn="l">
              <a:lnSpc>
                <a:spcPts val="5760"/>
              </a:lnSpc>
              <a:buFont typeface="Arial"/>
              <a:buChar char="⚬"/>
            </a:pPr>
            <a:r>
              <a:rPr lang="en-US" sz="32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Sensor :  HC-SR04 ใช้ในการวัดระยะวัตถุที่เข้าใกล้</a:t>
            </a:r>
          </a:p>
          <a:p>
            <a:pPr marL="731521" lvl="2" indent="-243840" algn="l">
              <a:lnSpc>
                <a:spcPts val="5760"/>
              </a:lnSpc>
              <a:buFont typeface="Arial"/>
              <a:buChar char="⚬"/>
            </a:pPr>
            <a:r>
              <a:rPr lang="en-US" sz="32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esp32-WI-FI : เพื่อให้สามารถเชื่อมต่อเข้าหากันและส่งข้อมูลกันได้ระหว่างเครื่องส่งและเครื่องรับ</a:t>
            </a:r>
          </a:p>
          <a:p>
            <a:pPr marL="731521" lvl="2" indent="-243840" algn="l">
              <a:lnSpc>
                <a:spcPts val="5760"/>
              </a:lnSpc>
              <a:buFont typeface="Arial"/>
              <a:buChar char="⚬"/>
            </a:pPr>
            <a:r>
              <a:rPr lang="en-US" sz="32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การแสดงผล : SSD1306 OLED ขนาด 128×64 ทำหน้าเป็นจอแสดงผลสำหรับเครื่องส่ง มีหน้าจอแสดงระยะ และ แสดงแป้นพิมพ์ เครื่องรับ มีไว้แสดงข้อความรหัสมอร์สที่ส่งมา</a:t>
            </a:r>
          </a:p>
          <a:p>
            <a:pPr marL="731521" lvl="2" indent="-243840" algn="l">
              <a:lnSpc>
                <a:spcPts val="5760"/>
              </a:lnSpc>
              <a:buFont typeface="Arial"/>
              <a:buChar char="⚬"/>
            </a:pPr>
            <a:r>
              <a:rPr lang="en-US" sz="32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การแจ้งเตือน : LED and BUZZER ใช้สำหรับแจ้งเตือน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6620">
            <a:off x="-227543" y="7666396"/>
            <a:ext cx="1970675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19980">
            <a:off x="-372008" y="9319517"/>
            <a:ext cx="1637538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01199" y="8335442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95923" y="6448320"/>
            <a:ext cx="585359" cy="586083"/>
          </a:xfrm>
          <a:custGeom>
            <a:avLst/>
            <a:gdLst/>
            <a:ahLst/>
            <a:cxnLst/>
            <a:rect l="l" t="t" r="r" b="b"/>
            <a:pathLst>
              <a:path w="585359" h="586083">
                <a:moveTo>
                  <a:pt x="0" y="0"/>
                </a:moveTo>
                <a:lnTo>
                  <a:pt x="585359" y="0"/>
                </a:lnTo>
                <a:lnTo>
                  <a:pt x="585359" y="586083"/>
                </a:lnTo>
                <a:lnTo>
                  <a:pt x="0" y="586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12660">
            <a:off x="14254924" y="1123398"/>
            <a:ext cx="25919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3980">
            <a:off x="16329565" y="813797"/>
            <a:ext cx="2340064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128721" y="1054084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068082" y="342005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7516161" y="459362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979760" y="342005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5832798" y="224928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43997" y="767305"/>
            <a:ext cx="6630486" cy="558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4578" b="1" u="sng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Architecture Design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0079" y="2170605"/>
            <a:ext cx="9550203" cy="533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2"/>
              </a:lnSpc>
            </a:pPr>
            <a:r>
              <a:rPr lang="en-US" sz="2567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Node 1: Transmitter</a:t>
            </a:r>
          </a:p>
          <a:p>
            <a:pPr algn="l">
              <a:lnSpc>
                <a:spcPts val="4622"/>
              </a:lnSpc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ทำหน้าที่รับข้อมูลและตรวจจับสิ่งกีดขวาง</a:t>
            </a:r>
          </a:p>
          <a:p>
            <a:pPr marL="586915" lvl="2" indent="-195638" algn="l">
              <a:lnSpc>
                <a:spcPts val="4622"/>
              </a:lnSpc>
              <a:buFont typeface="Arial"/>
              <a:buChar char="⚬"/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ปุ่ม 4 ปุ่มใช้เลือก พิมพ์ ลบ และส่งข้อความ</a:t>
            </a:r>
          </a:p>
          <a:p>
            <a:pPr marL="586915" lvl="2" indent="-195638" algn="l">
              <a:lnSpc>
                <a:spcPts val="4622"/>
              </a:lnSpc>
              <a:buFont typeface="Arial"/>
              <a:buChar char="⚬"/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Potentiometer ใช้ปรับระยะ Threshold</a:t>
            </a:r>
          </a:p>
          <a:p>
            <a:pPr marL="586915" lvl="2" indent="-195638" algn="l">
              <a:lnSpc>
                <a:spcPts val="4622"/>
              </a:lnSpc>
              <a:buFont typeface="Arial"/>
              <a:buChar char="⚬"/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HC-SR04 ใช้วัดระยะของวัตถุ</a:t>
            </a:r>
          </a:p>
          <a:p>
            <a:pPr marL="586915" lvl="2" indent="-195638" algn="l">
              <a:lnSpc>
                <a:spcPts val="4622"/>
              </a:lnSpc>
              <a:buFont typeface="Arial"/>
              <a:buChar char="⚬"/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OLED 1 แสดงเรดาร์และการแจ้งเตือน</a:t>
            </a:r>
          </a:p>
          <a:p>
            <a:pPr marL="586915" lvl="2" indent="-195638" algn="l">
              <a:lnSpc>
                <a:spcPts val="4622"/>
              </a:lnSpc>
              <a:buFont typeface="Arial"/>
              <a:buChar char="⚬"/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OLED 2 แสดงคีย์บอร์ดและสถานะ Wi-Fi</a:t>
            </a:r>
          </a:p>
          <a:p>
            <a:pPr marL="586915" lvl="2" indent="-195638" algn="l">
              <a:lnSpc>
                <a:spcPts val="4622"/>
              </a:lnSpc>
              <a:buFont typeface="Arial"/>
              <a:buChar char="⚬"/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ESP32 แปลงข้อความเป็น Morse Code และส่งไปยัง Node 2</a:t>
            </a:r>
          </a:p>
          <a:p>
            <a:pPr marL="586915" lvl="2" indent="-195638" algn="l">
              <a:lnSpc>
                <a:spcPts val="4622"/>
              </a:lnSpc>
              <a:buFont typeface="Arial"/>
              <a:buChar char="⚬"/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เมื่อพบวัตถุใกล้เกินกำหนด ระบบจะส่ง SOS อัตโนมัติ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83391" y="2170605"/>
            <a:ext cx="7471324" cy="4176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2"/>
              </a:lnSpc>
            </a:pPr>
            <a:r>
              <a:rPr lang="en-US" sz="2567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Node 2: Receiver</a:t>
            </a:r>
          </a:p>
          <a:p>
            <a:pPr algn="l">
              <a:lnSpc>
                <a:spcPts val="4622"/>
              </a:lnSpc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ทำหน้าที่รับ ถอดรหัส และแสดงผล</a:t>
            </a:r>
          </a:p>
          <a:p>
            <a:pPr marL="586915" lvl="2" indent="-195638" algn="l">
              <a:lnSpc>
                <a:spcPts val="4622"/>
              </a:lnSpc>
              <a:buFont typeface="Arial"/>
              <a:buChar char="⚬"/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ESP32 เปิด Wi-Fi แบบ SoftAP</a:t>
            </a:r>
          </a:p>
          <a:p>
            <a:pPr marL="586915" lvl="2" indent="-195638" algn="l">
              <a:lnSpc>
                <a:spcPts val="4622"/>
              </a:lnSpc>
              <a:buFont typeface="Arial"/>
              <a:buChar char="⚬"/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Web Server รับ Morse Code ผ่าน HTTP GET</a:t>
            </a:r>
          </a:p>
          <a:p>
            <a:pPr marL="586915" lvl="2" indent="-195638" algn="l">
              <a:lnSpc>
                <a:spcPts val="4622"/>
              </a:lnSpc>
              <a:buFont typeface="Arial"/>
              <a:buChar char="⚬"/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แปลง Morse Code กลับเป็นตัวอักษร</a:t>
            </a:r>
          </a:p>
          <a:p>
            <a:pPr marL="586915" lvl="2" indent="-195638" algn="l">
              <a:lnSpc>
                <a:spcPts val="4622"/>
              </a:lnSpc>
              <a:buFont typeface="Arial"/>
              <a:buChar char="⚬"/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OLED แสดงตัวอักษร รหัสมอร์ส และข้อความทั้งหมด</a:t>
            </a:r>
          </a:p>
          <a:p>
            <a:pPr marL="586915" lvl="2" indent="-195638" algn="l">
              <a:lnSpc>
                <a:spcPts val="4622"/>
              </a:lnSpc>
              <a:buFont typeface="Arial"/>
              <a:buChar char="⚬"/>
            </a:pPr>
            <a:r>
              <a:rPr lang="en-US" sz="2567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Buzzer ส่งเสียงสั้นและยาวตามจุด–ขีด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2660">
            <a:off x="14254924" y="1123398"/>
            <a:ext cx="25919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13980">
            <a:off x="16329565" y="813797"/>
            <a:ext cx="2340064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068082" y="342005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7516161" y="459362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979760" y="342005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2827115" y="1600924"/>
            <a:ext cx="12633770" cy="7085152"/>
            <a:chOff x="0" y="0"/>
            <a:chExt cx="16845026" cy="94468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845026" cy="9446895"/>
            </a:xfrm>
            <a:custGeom>
              <a:avLst/>
              <a:gdLst/>
              <a:ahLst/>
              <a:cxnLst/>
              <a:rect l="l" t="t" r="r" b="b"/>
              <a:pathLst>
                <a:path w="16845026" h="9446895">
                  <a:moveTo>
                    <a:pt x="0" y="0"/>
                  </a:moveTo>
                  <a:lnTo>
                    <a:pt x="16845026" y="0"/>
                  </a:lnTo>
                  <a:lnTo>
                    <a:pt x="16845026" y="9446895"/>
                  </a:lnTo>
                  <a:lnTo>
                    <a:pt x="0" y="9446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701218" y="713975"/>
            <a:ext cx="4885563" cy="558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4578" u="sng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Details Design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2660">
            <a:off x="14254924" y="1123398"/>
            <a:ext cx="25919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13980">
            <a:off x="16329565" y="813797"/>
            <a:ext cx="2340064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068082" y="342005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7516161" y="459362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979760" y="342005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2119436" y="2481644"/>
            <a:ext cx="4581782" cy="6083694"/>
            <a:chOff x="0" y="0"/>
            <a:chExt cx="6109043" cy="81115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09081" cy="8111617"/>
            </a:xfrm>
            <a:custGeom>
              <a:avLst/>
              <a:gdLst/>
              <a:ahLst/>
              <a:cxnLst/>
              <a:rect l="l" t="t" r="r" b="b"/>
              <a:pathLst>
                <a:path w="6109081" h="8111617">
                  <a:moveTo>
                    <a:pt x="0" y="0"/>
                  </a:moveTo>
                  <a:lnTo>
                    <a:pt x="6109081" y="0"/>
                  </a:lnTo>
                  <a:lnTo>
                    <a:pt x="6109081" y="8111617"/>
                  </a:lnTo>
                  <a:lnTo>
                    <a:pt x="0" y="8111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" r="-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586782" y="2486692"/>
            <a:ext cx="4581782" cy="6078655"/>
            <a:chOff x="0" y="0"/>
            <a:chExt cx="6109043" cy="81048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09081" cy="8104886"/>
            </a:xfrm>
            <a:custGeom>
              <a:avLst/>
              <a:gdLst/>
              <a:ahLst/>
              <a:cxnLst/>
              <a:rect l="l" t="t" r="r" b="b"/>
              <a:pathLst>
                <a:path w="6109081" h="8104886">
                  <a:moveTo>
                    <a:pt x="0" y="0"/>
                  </a:moveTo>
                  <a:lnTo>
                    <a:pt x="6109081" y="0"/>
                  </a:lnTo>
                  <a:lnTo>
                    <a:pt x="6109081" y="8104886"/>
                  </a:lnTo>
                  <a:lnTo>
                    <a:pt x="0" y="8104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5" r="-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701218" y="713975"/>
            <a:ext cx="4885563" cy="558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4578" u="sng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Details Design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63382" y="9045626"/>
            <a:ext cx="2093881" cy="558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4578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Node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21142" y="9045626"/>
            <a:ext cx="2093881" cy="558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4578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Node 2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6620">
            <a:off x="-227543" y="7666396"/>
            <a:ext cx="1970675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19980">
            <a:off x="-372008" y="9319517"/>
            <a:ext cx="1637538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01199" y="8335442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95923" y="6448320"/>
            <a:ext cx="585359" cy="586083"/>
          </a:xfrm>
          <a:custGeom>
            <a:avLst/>
            <a:gdLst/>
            <a:ahLst/>
            <a:cxnLst/>
            <a:rect l="l" t="t" r="r" b="b"/>
            <a:pathLst>
              <a:path w="585359" h="586083">
                <a:moveTo>
                  <a:pt x="0" y="0"/>
                </a:moveTo>
                <a:lnTo>
                  <a:pt x="585359" y="0"/>
                </a:lnTo>
                <a:lnTo>
                  <a:pt x="585359" y="586083"/>
                </a:lnTo>
                <a:lnTo>
                  <a:pt x="0" y="586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12660">
            <a:off x="14254924" y="1123398"/>
            <a:ext cx="25919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3980">
            <a:off x="16329565" y="813797"/>
            <a:ext cx="2340064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128721" y="1054084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068082" y="342005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7516161" y="459362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979760" y="342005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5832798" y="224928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0" y="6362643"/>
            <a:ext cx="951833" cy="37433"/>
            <a:chOff x="0" y="0"/>
            <a:chExt cx="1269111" cy="499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69111" cy="49911"/>
            </a:xfrm>
            <a:custGeom>
              <a:avLst/>
              <a:gdLst/>
              <a:ahLst/>
              <a:cxnLst/>
              <a:rect l="l" t="t" r="r" b="b"/>
              <a:pathLst>
                <a:path w="1269111" h="49911">
                  <a:moveTo>
                    <a:pt x="0" y="0"/>
                  </a:moveTo>
                  <a:lnTo>
                    <a:pt x="1269111" y="0"/>
                  </a:lnTo>
                  <a:lnTo>
                    <a:pt x="1269111" y="49911"/>
                  </a:lnTo>
                  <a:lnTo>
                    <a:pt x="0" y="49911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2557" y="6229436"/>
            <a:ext cx="265652" cy="265652"/>
            <a:chOff x="0" y="0"/>
            <a:chExt cx="354203" cy="3542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4203" cy="354203"/>
            </a:xfrm>
            <a:custGeom>
              <a:avLst/>
              <a:gdLst/>
              <a:ahLst/>
              <a:cxnLst/>
              <a:rect l="l" t="t" r="r" b="b"/>
              <a:pathLst>
                <a:path w="354203" h="354203">
                  <a:moveTo>
                    <a:pt x="0" y="177165"/>
                  </a:moveTo>
                  <a:cubicBezTo>
                    <a:pt x="0" y="79248"/>
                    <a:pt x="79248" y="0"/>
                    <a:pt x="177165" y="0"/>
                  </a:cubicBezTo>
                  <a:cubicBezTo>
                    <a:pt x="275082" y="0"/>
                    <a:pt x="354203" y="79248"/>
                    <a:pt x="354203" y="177165"/>
                  </a:cubicBezTo>
                  <a:cubicBezTo>
                    <a:pt x="354203" y="275082"/>
                    <a:pt x="274955" y="354203"/>
                    <a:pt x="177165" y="354203"/>
                  </a:cubicBezTo>
                  <a:cubicBezTo>
                    <a:pt x="79375" y="354203"/>
                    <a:pt x="0" y="274955"/>
                    <a:pt x="0" y="177165"/>
                  </a:cubicBezTo>
                  <a:close/>
                </a:path>
              </a:pathLst>
            </a:custGeom>
            <a:solidFill>
              <a:srgbClr val="77C6F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733082"/>
            <a:ext cx="8083048" cy="62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u="sng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Flow chart &amp; Code NODE 1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18238" y="1756677"/>
            <a:ext cx="8024041" cy="7216626"/>
            <a:chOff x="0" y="0"/>
            <a:chExt cx="10698721" cy="96221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98734" cy="9622155"/>
            </a:xfrm>
            <a:custGeom>
              <a:avLst/>
              <a:gdLst/>
              <a:ahLst/>
              <a:cxnLst/>
              <a:rect l="l" t="t" r="r" b="b"/>
              <a:pathLst>
                <a:path w="10698734" h="9622155">
                  <a:moveTo>
                    <a:pt x="0" y="0"/>
                  </a:moveTo>
                  <a:lnTo>
                    <a:pt x="10698734" y="0"/>
                  </a:lnTo>
                  <a:lnTo>
                    <a:pt x="10698734" y="9622155"/>
                  </a:lnTo>
                  <a:lnTo>
                    <a:pt x="0" y="962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3" r="-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504188" y="1489977"/>
            <a:ext cx="8567414" cy="362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ฟังก์ชัน setup()</a:t>
            </a:r>
          </a:p>
          <a:p>
            <a:pPr algn="l">
              <a:lnSpc>
                <a:spcPts val="4140"/>
              </a:lnSpc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ทำงานเพียงครั้งเดียวเมื่อเปิดเครื่องหรือรีเซต ESP32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กำหนดโหมดขาของปุ่ม LED, Potentiometer และ Ultrasonic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เริ่มต้นการสื่อสารผ่าน I2C0 และ I2C1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เริ่มต้นจอ OLED ทั้ง 2 จอ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เชื่อมต่อ ESP32 กับ Wi-Fi ในโหมด Station (WIFI_STA)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หากเชื่อมต่อสำเร็จ จะแสดงสัญลักษณ์ Wi-Fi บนจอ OLED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04188" y="5329518"/>
            <a:ext cx="9005591" cy="4166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065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ฟั</a:t>
            </a:r>
            <a:r>
              <a:rPr lang="en-US" sz="2065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งก์ชัน loop()</a:t>
            </a:r>
          </a:p>
          <a:p>
            <a:pPr algn="l">
              <a:lnSpc>
                <a:spcPts val="3718"/>
              </a:lnSpc>
            </a:pPr>
            <a:r>
              <a:rPr lang="en-US" sz="2065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การอ่านปุ่มควบคุม</a:t>
            </a:r>
          </a:p>
          <a:p>
            <a:pPr algn="l">
              <a:lnSpc>
                <a:spcPts val="3718"/>
              </a:lnSpc>
            </a:pPr>
            <a:r>
              <a:rPr lang="en-US" sz="2065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ใช้ไลบรารี ezButton ตรวจสอบปุ่มทั้ง 4 ปุ่ม</a:t>
            </a:r>
          </a:p>
          <a:p>
            <a:pPr marL="446003" lvl="1" indent="-223001" algn="l">
              <a:lnSpc>
                <a:spcPts val="3718"/>
              </a:lnSpc>
              <a:buFont typeface="Arial"/>
              <a:buChar char="•"/>
            </a:pPr>
            <a:r>
              <a:rPr lang="en-US" sz="2065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ปุ่ม Action:</a:t>
            </a:r>
          </a:p>
          <a:p>
            <a:pPr marL="892006" lvl="2" indent="-297335" algn="l">
              <a:lnSpc>
                <a:spcPts val="3718"/>
              </a:lnSpc>
              <a:buFont typeface="Arial"/>
              <a:buChar char="⚬"/>
            </a:pPr>
            <a:r>
              <a:rPr lang="en-US" sz="2065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กดสั้นกว่า 800 ms: เพิ่มตัวอักษรที่เลือกลงใน Buffer หรือใช้คำสั่งลบ</a:t>
            </a:r>
          </a:p>
          <a:p>
            <a:pPr marL="892006" lvl="2" indent="-297335" algn="l">
              <a:lnSpc>
                <a:spcPts val="3718"/>
              </a:lnSpc>
              <a:buFont typeface="Arial"/>
              <a:buChar char="⚬"/>
            </a:pPr>
            <a:r>
              <a:rPr lang="en-US" sz="2065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กดค้างเกิน 800 ms: นำข้อความใน Buffer ไปแปลงเป็นรหัสมอร์ส แล้วส่งไปยัง Node 2 ผ่าน HTTP GET</a:t>
            </a:r>
          </a:p>
          <a:p>
            <a:pPr marL="472241" lvl="2" indent="-157414" algn="l">
              <a:lnSpc>
                <a:spcPts val="3718"/>
              </a:lnSpc>
              <a:buFont typeface="Arial"/>
              <a:buChar char="⚬"/>
            </a:pPr>
            <a:r>
              <a:rPr lang="en-US" sz="2065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หลังส่งข้อความสำเร็จ LED จะกะพริบเพื่อแจ้งสถานะ และล้าง Buffer เพื่อรอข้อความใหม่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69035" y="8866080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6480">
            <a:off x="14324133" y="7820473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59042" y="8584559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48478" y="7441197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665835" y="6425279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6480">
            <a:off x="-1068753" y="2493197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66156" y="583921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56316" y="2306879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72959" y="3558245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65442" y="4006082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19" y="0"/>
                </a:lnTo>
                <a:lnTo>
                  <a:pt x="349919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576083" y="41688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259042" y="997776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994876" y="6858724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7" y="0"/>
                </a:lnTo>
                <a:lnTo>
                  <a:pt x="349197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rot="7500">
            <a:off x="14639125" y="2151555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rot="7500">
            <a:off x="-739359" y="8122510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26852" y="915901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7"/>
                </a:lnTo>
                <a:lnTo>
                  <a:pt x="0" y="217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326852" y="786373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6705336" y="289069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6705336" y="45277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2143258" y="1748161"/>
            <a:ext cx="4407113" cy="7994761"/>
            <a:chOff x="0" y="0"/>
            <a:chExt cx="5876150" cy="1065968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76163" cy="10659618"/>
            </a:xfrm>
            <a:custGeom>
              <a:avLst/>
              <a:gdLst/>
              <a:ahLst/>
              <a:cxnLst/>
              <a:rect l="l" t="t" r="r" b="b"/>
              <a:pathLst>
                <a:path w="5876163" h="10659618">
                  <a:moveTo>
                    <a:pt x="0" y="0"/>
                  </a:moveTo>
                  <a:lnTo>
                    <a:pt x="5876163" y="0"/>
                  </a:lnTo>
                  <a:lnTo>
                    <a:pt x="5876163" y="10659618"/>
                  </a:lnTo>
                  <a:lnTo>
                    <a:pt x="0" y="10659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29" b="-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371487" y="701383"/>
            <a:ext cx="8083048" cy="62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u="sng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Flow chart &amp; Code NODE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24150" y="1931022"/>
            <a:ext cx="8567414" cy="375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 ฟังก์ชัน setup()</a:t>
            </a:r>
          </a:p>
          <a:p>
            <a:pPr algn="l">
              <a:lnSpc>
                <a:spcPts val="4140"/>
              </a:lnSpc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ทำงานครั้งเดียวเมื่อเปิดหรือรีเซต ESP32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กำหนดขา Buzzer เป็น OUTPUT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เริ่มต้นบัส I2C และจอ OLED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เปิด Wi-Fi แบบ SoftAP เพื่อให้ Node 1 เชื่อมต่อ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สร้าง Web Server และกำหนด Route /send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เริ่มต้น Server เพื่อรอรับ HTTP Request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24150" y="6155265"/>
            <a:ext cx="8567414" cy="310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ภายในฟังก์ชัน loop()</a:t>
            </a:r>
          </a:p>
          <a:p>
            <a:pPr algn="l">
              <a:lnSpc>
                <a:spcPts val="4140"/>
              </a:lnSpc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ฟังก์ชัน handleClient() จะทำงาน โดย: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ตรวจสอบ request ตัวแปร code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เก็บรหัสไว้ใน pendingMorseData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กำหนด hasNewData = true</a:t>
            </a:r>
          </a:p>
          <a:p>
            <a:pPr marL="525783" lvl="2" indent="-175261" algn="l">
              <a:lnSpc>
                <a:spcPts val="4140"/>
              </a:lnSpc>
              <a:buFont typeface="Arial"/>
              <a:buChar char="⚬"/>
            </a:pPr>
            <a:r>
              <a:rPr lang="en-US" sz="23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ตอบกลับ HTTP 200 OK เพื่อแจ้งว่ารับข้อมูลสำเร็จ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69035" y="8866080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6480">
            <a:off x="14324133" y="7820473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59042" y="8584559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48478" y="7441197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665835" y="6425279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6480">
            <a:off x="-1068753" y="2493197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66156" y="583921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56316" y="2306879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72959" y="3558245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65442" y="4006082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19" y="0"/>
                </a:lnTo>
                <a:lnTo>
                  <a:pt x="349919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576083" y="41688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259042" y="997776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994876" y="6858724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7" y="0"/>
                </a:lnTo>
                <a:lnTo>
                  <a:pt x="349197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rot="7500">
            <a:off x="14639125" y="2151555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rot="7500">
            <a:off x="-739359" y="8122510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26852" y="915901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7"/>
                </a:lnTo>
                <a:lnTo>
                  <a:pt x="0" y="217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326852" y="786373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6705336" y="289069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6705336" y="45277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371487" y="701383"/>
            <a:ext cx="6399066" cy="62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u="sng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Testing and results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71487" y="1424311"/>
            <a:ext cx="10646293" cy="231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ตรวจระยะวัตถุที่เข้ามาใกล้</a:t>
            </a:r>
          </a:p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วิธีการทดสอบ : ทำการ หมุน potentiometer ไปที่ระยะที่ต้องการตรวจจับวัตถุ</a:t>
            </a:r>
          </a:p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ผลลัพธ์ที่ได้ : หน้าจอ oled จะ แสดงระยะที่กำลังเข้ามาใกล้ แลัส่งสัญญานเตือน SOS เข้ามาผ่านหน้าจอ oled พร้อม buzzer ส่งเสียง และ led กระพริบ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71487" y="3859530"/>
            <a:ext cx="10646293" cy="441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ส่งข้อความเป็นรหัสมอร์สให้ตัวรับและแปลงกลับเป็นข้อความ</a:t>
            </a:r>
          </a:p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วิธีการทดสอบ : ทำการ เปิด esp-32 ทั้งสอง node เชื่อมเข้าหากัน ตัว node 2 จะทำหน้าที่เป็น hotspot ให้ node 1 เชื่อม เข้าหากันเพื่อส่งหากัน ฝั้งส่งมีหน้าจอ oled แสดงแป้นพิมพ์ตัวอักษร มีปุ่ม4ปุ่มไว้ควบคุม ซ้าย,ขวา,ตกลง,ยกเลิก เมื่อต้องการทำการส่ง กดปุ่มเลือกตัวอักษรเพื่อพิมสิ่งที่ต้องการส่ง</a:t>
            </a:r>
          </a:p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ผลลัพธ์ที่ได้ : หน้าจอ oled จะแสดงสถานะ WI-FI ถ้าเชื่อมเข้าหากันแล้วแต่ถ้าไม่สามารถเชื่อมได้หน้าจอ oled ก็จะแสดง กากบาท เมื่อได้รับการส่งมาแล้วหน้าจอ oled จะแสดง รหัสมอร์ส พร้อมมีเสียง buzzer จากนั้น จะแปลง รหัสมอร์สเป็นข้อความออกทางหน้าจอ oled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69035" y="8866080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6480">
            <a:off x="14324133" y="7820473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59042" y="8584559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48478" y="7441197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665835" y="6425279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6480">
            <a:off x="-1068753" y="2493197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66156" y="583921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56316" y="2306879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72959" y="3558245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65442" y="4006082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19" y="0"/>
                </a:lnTo>
                <a:lnTo>
                  <a:pt x="349919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576083" y="41688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259042" y="997776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994876" y="6858724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7" y="0"/>
                </a:lnTo>
                <a:lnTo>
                  <a:pt x="349197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rot="7500">
            <a:off x="14639125" y="2151555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rot="7500">
            <a:off x="-739359" y="8122510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26852" y="915901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7"/>
                </a:lnTo>
                <a:lnTo>
                  <a:pt x="0" y="217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326852" y="786373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6705336" y="289069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6705336" y="45277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371487" y="701383"/>
            <a:ext cx="6399066" cy="62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u="sng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Problem &amp; Solutions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71487" y="1692402"/>
            <a:ext cx="10646293" cy="19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ไอคอน WI-FI ในหน้าจอ oled ตัว transmitter ไม่ขึ้น</a:t>
            </a:r>
            <a:r>
              <a:rPr lang="en-US" sz="27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 : ตรวจสอบตัวรับ node ที่2 ว่าได้มีการเปิดเครื่องและ เปิดตัว hotspot แล้วหรือยัง ถ้าเปืดแล้วแต่ยังไม่ขึ้นให้ตรวจสอบ SSID และ PASSWORD ในโค้ด ให้ตรงกัน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71487" y="3735515"/>
            <a:ext cx="10646293" cy="133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จอ Oled ไม่ติด</a:t>
            </a:r>
            <a:r>
              <a:rPr lang="en-US" sz="27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 : ตรวจสอบสาย SDA/SCL ให้ตรงกันกับบัส I2C ทั้งคู่ แต่ละคู่ตรวจ สอบตำแหน่ง I2C Address (ค่าเริ่มต้นคือ 0x3C)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71487" y="5168075"/>
            <a:ext cx="10646293" cy="19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 b="1">
                <a:solidFill>
                  <a:srgbClr val="494949"/>
                </a:solidFill>
                <a:latin typeface="Barlow Bold"/>
                <a:ea typeface="Barlow Bold"/>
                <a:cs typeface="Barlow Bold"/>
                <a:sym typeface="Barlow Bold"/>
              </a:rPr>
              <a:t>ระยะ Ultrasonic อ่านค่าได้ 999 cm ตลอดเวลา : </a:t>
            </a:r>
            <a:r>
              <a:rPr lang="en-US" sz="2700">
                <a:solidFill>
                  <a:srgbClr val="494949"/>
                </a:solidFill>
                <a:latin typeface="Barlow"/>
                <a:ea typeface="Barlow"/>
                <a:cs typeface="Barlow"/>
                <a:sym typeface="Barlow"/>
              </a:rPr>
              <a:t>ตรวจสอบสายไฟเลี้ยง 5V (Vin) ของโมดูล HC-SR04ตรวจสอบการต่อวงจรตัวต้านทานลดทอนแรงดัน (Voltage Divider) ที่ขา Echo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69035" y="8866080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6480">
            <a:off x="14324133" y="7820473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59042" y="8584559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48478" y="7441197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665835" y="6425279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6480">
            <a:off x="-1068753" y="2493197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66156" y="583921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56316" y="2306879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72959" y="3558245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65442" y="4006082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19" y="0"/>
                </a:lnTo>
                <a:lnTo>
                  <a:pt x="349919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576083" y="41688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259042" y="997776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994876" y="6858724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7" y="0"/>
                </a:lnTo>
                <a:lnTo>
                  <a:pt x="349197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rot="7500">
            <a:off x="14639125" y="2151555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rot="7500">
            <a:off x="-739359" y="8122510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26852" y="915901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7"/>
                </a:lnTo>
                <a:lnTo>
                  <a:pt x="0" y="217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326852" y="786373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6705336" y="289069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6705336" y="45277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5419315" y="4514174"/>
            <a:ext cx="6735909" cy="62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 u="sng">
                <a:solidFill>
                  <a:srgbClr val="0000FF"/>
                </a:solidFill>
                <a:latin typeface="TLWG Typewriter"/>
                <a:ea typeface="TLWG Typewriter"/>
                <a:cs typeface="TLWG Typewriter"/>
                <a:sym typeface="TLWG Typewriter"/>
                <a:hlinkClick r:id="rId12" tooltip="https://github.com/Alongtis/Intrusion-Alert-System"/>
              </a:rPr>
              <a:t>Demonstrasion Videos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69035" y="8866080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6480">
            <a:off x="14324133" y="7820473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59042" y="8584559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48478" y="7441197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665835" y="6425279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6480">
            <a:off x="-1068753" y="2493197"/>
            <a:ext cx="5032619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66156" y="583921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2" r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56316" y="2306879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4" r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72959" y="3558245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65442" y="4006082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19" y="0"/>
                </a:lnTo>
                <a:lnTo>
                  <a:pt x="349919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253" b="-32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576083" y="41688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259042" y="997776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994876" y="6858724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7" y="0"/>
                </a:lnTo>
                <a:lnTo>
                  <a:pt x="349197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46" b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rot="7500">
            <a:off x="14639125" y="2151555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rot="7500">
            <a:off x="-739359" y="8122510"/>
            <a:ext cx="4350791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26852" y="915901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7"/>
                </a:lnTo>
                <a:lnTo>
                  <a:pt x="0" y="217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326852" y="786373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6705336" y="2890695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6705336" y="452771"/>
            <a:ext cx="217646" cy="217646"/>
          </a:xfrm>
          <a:custGeom>
            <a:avLst/>
            <a:gdLst/>
            <a:ahLst/>
            <a:cxnLst/>
            <a:rect l="l" t="t" r="r" b="b"/>
            <a:pathLst>
              <a:path w="217646" h="217646">
                <a:moveTo>
                  <a:pt x="0" y="0"/>
                </a:moveTo>
                <a:lnTo>
                  <a:pt x="217646" y="0"/>
                </a:lnTo>
                <a:lnTo>
                  <a:pt x="217646" y="217646"/>
                </a:lnTo>
                <a:lnTo>
                  <a:pt x="0" y="217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2622356" y="1525895"/>
            <a:ext cx="13043278" cy="7235200"/>
            <a:chOff x="0" y="0"/>
            <a:chExt cx="17391037" cy="9646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390999" cy="9646920"/>
            </a:xfrm>
            <a:custGeom>
              <a:avLst/>
              <a:gdLst/>
              <a:ahLst/>
              <a:cxnLst/>
              <a:rect l="l" t="t" r="r" b="b"/>
              <a:pathLst>
                <a:path w="17390999" h="9646920">
                  <a:moveTo>
                    <a:pt x="0" y="0"/>
                  </a:moveTo>
                  <a:lnTo>
                    <a:pt x="17390999" y="0"/>
                  </a:lnTo>
                  <a:lnTo>
                    <a:pt x="17390999" y="9646920"/>
                  </a:lnTo>
                  <a:lnTo>
                    <a:pt x="0" y="9646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980425" y="580654"/>
            <a:ext cx="3977230" cy="77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6"/>
              </a:lnSpc>
            </a:pPr>
            <a:r>
              <a:rPr lang="en-US" sz="5219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Gant Chard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3740">
            <a:off x="14481362" y="6946040"/>
            <a:ext cx="2381745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11760">
            <a:off x="14309693" y="4470673"/>
            <a:ext cx="2790615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11640">
            <a:off x="14391246" y="1855632"/>
            <a:ext cx="2811113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rot="32160">
            <a:off x="16102003" y="264433"/>
            <a:ext cx="1017518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814718" y="2568959"/>
            <a:ext cx="1164241" cy="1162802"/>
          </a:xfrm>
          <a:custGeom>
            <a:avLst/>
            <a:gdLst/>
            <a:ahLst/>
            <a:cxnLst/>
            <a:rect l="l" t="t" r="r" b="b"/>
            <a:pathLst>
              <a:path w="1164241" h="1162802">
                <a:moveTo>
                  <a:pt x="0" y="0"/>
                </a:moveTo>
                <a:lnTo>
                  <a:pt x="1164241" y="0"/>
                </a:lnTo>
                <a:lnTo>
                  <a:pt x="1164241" y="1162803"/>
                </a:lnTo>
                <a:lnTo>
                  <a:pt x="0" y="11628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62" b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739196" y="5508717"/>
            <a:ext cx="584645" cy="583197"/>
          </a:xfrm>
          <a:custGeom>
            <a:avLst/>
            <a:gdLst/>
            <a:ahLst/>
            <a:cxnLst/>
            <a:rect l="l" t="t" r="r" b="b"/>
            <a:pathLst>
              <a:path w="584645" h="583197">
                <a:moveTo>
                  <a:pt x="0" y="0"/>
                </a:moveTo>
                <a:lnTo>
                  <a:pt x="584644" y="0"/>
                </a:lnTo>
                <a:lnTo>
                  <a:pt x="584644" y="583197"/>
                </a:lnTo>
                <a:lnTo>
                  <a:pt x="0" y="583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24" b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025755" y="354959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103078" y="7760522"/>
            <a:ext cx="586083" cy="585359"/>
          </a:xfrm>
          <a:custGeom>
            <a:avLst/>
            <a:gdLst/>
            <a:ahLst/>
            <a:cxnLst/>
            <a:rect l="l" t="t" r="r" b="b"/>
            <a:pathLst>
              <a:path w="586083" h="585359">
                <a:moveTo>
                  <a:pt x="0" y="0"/>
                </a:moveTo>
                <a:lnTo>
                  <a:pt x="586083" y="0"/>
                </a:lnTo>
                <a:lnTo>
                  <a:pt x="586083" y="585359"/>
                </a:lnTo>
                <a:lnTo>
                  <a:pt x="0" y="5853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61" b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666559" y="498243"/>
            <a:ext cx="53283" cy="349196"/>
          </a:xfrm>
          <a:custGeom>
            <a:avLst/>
            <a:gdLst/>
            <a:ahLst/>
            <a:cxnLst/>
            <a:rect l="l" t="t" r="r" b="b"/>
            <a:pathLst>
              <a:path w="53283" h="349196">
                <a:moveTo>
                  <a:pt x="0" y="0"/>
                </a:moveTo>
                <a:lnTo>
                  <a:pt x="53283" y="0"/>
                </a:lnTo>
                <a:lnTo>
                  <a:pt x="53283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146" r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rot="9660">
            <a:off x="1461268" y="5313074"/>
            <a:ext cx="3385385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rot="14460">
            <a:off x="1391041" y="7841713"/>
            <a:ext cx="2265121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rot="11280">
            <a:off x="1559109" y="9481156"/>
            <a:ext cx="2897381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42003" y="8124482"/>
            <a:ext cx="1164241" cy="1162802"/>
          </a:xfrm>
          <a:custGeom>
            <a:avLst/>
            <a:gdLst/>
            <a:ahLst/>
            <a:cxnLst/>
            <a:rect l="l" t="t" r="r" b="b"/>
            <a:pathLst>
              <a:path w="1164241" h="1162802">
                <a:moveTo>
                  <a:pt x="0" y="0"/>
                </a:moveTo>
                <a:lnTo>
                  <a:pt x="1164241" y="0"/>
                </a:lnTo>
                <a:lnTo>
                  <a:pt x="1164241" y="1162803"/>
                </a:lnTo>
                <a:lnTo>
                  <a:pt x="0" y="11628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62" b="-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965675" y="6702476"/>
            <a:ext cx="584645" cy="583197"/>
          </a:xfrm>
          <a:custGeom>
            <a:avLst/>
            <a:gdLst/>
            <a:ahLst/>
            <a:cxnLst/>
            <a:rect l="l" t="t" r="r" b="b"/>
            <a:pathLst>
              <a:path w="584645" h="583197">
                <a:moveTo>
                  <a:pt x="0" y="0"/>
                </a:moveTo>
                <a:lnTo>
                  <a:pt x="584645" y="0"/>
                </a:lnTo>
                <a:lnTo>
                  <a:pt x="584645" y="583197"/>
                </a:lnTo>
                <a:lnTo>
                  <a:pt x="0" y="583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24" b="-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3191037" y="9580321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 rot="5400000">
            <a:off x="2754716" y="3377536"/>
            <a:ext cx="576739" cy="575977"/>
            <a:chOff x="0" y="0"/>
            <a:chExt cx="768985" cy="7679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68985" cy="767969"/>
            </a:xfrm>
            <a:custGeom>
              <a:avLst/>
              <a:gdLst/>
              <a:ahLst/>
              <a:cxnLst/>
              <a:rect l="l" t="t" r="r" b="b"/>
              <a:pathLst>
                <a:path w="768985" h="767969">
                  <a:moveTo>
                    <a:pt x="384429" y="0"/>
                  </a:moveTo>
                  <a:cubicBezTo>
                    <a:pt x="172085" y="0"/>
                    <a:pt x="0" y="171958"/>
                    <a:pt x="0" y="383667"/>
                  </a:cubicBezTo>
                  <a:cubicBezTo>
                    <a:pt x="0" y="596011"/>
                    <a:pt x="172085" y="767969"/>
                    <a:pt x="384429" y="767969"/>
                  </a:cubicBezTo>
                  <a:cubicBezTo>
                    <a:pt x="596773" y="767969"/>
                    <a:pt x="768985" y="596011"/>
                    <a:pt x="768985" y="383667"/>
                  </a:cubicBezTo>
                  <a:cubicBezTo>
                    <a:pt x="768985" y="171958"/>
                    <a:pt x="596900" y="0"/>
                    <a:pt x="384429" y="0"/>
                  </a:cubicBezTo>
                  <a:close/>
                </a:path>
              </a:pathLst>
            </a:custGeom>
            <a:solidFill>
              <a:srgbClr val="77C6F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2750039" y="3372117"/>
            <a:ext cx="586083" cy="585359"/>
          </a:xfrm>
          <a:custGeom>
            <a:avLst/>
            <a:gdLst/>
            <a:ahLst/>
            <a:cxnLst/>
            <a:rect l="l" t="t" r="r" b="b"/>
            <a:pathLst>
              <a:path w="586083" h="585359">
                <a:moveTo>
                  <a:pt x="0" y="0"/>
                </a:moveTo>
                <a:lnTo>
                  <a:pt x="586083" y="0"/>
                </a:lnTo>
                <a:lnTo>
                  <a:pt x="586083" y="585359"/>
                </a:lnTo>
                <a:lnTo>
                  <a:pt x="0" y="5853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61" b="-6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2827449" y="3450222"/>
            <a:ext cx="430530" cy="429863"/>
            <a:chOff x="0" y="0"/>
            <a:chExt cx="574040" cy="5731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74040" cy="573151"/>
            </a:xfrm>
            <a:custGeom>
              <a:avLst/>
              <a:gdLst/>
              <a:ahLst/>
              <a:cxnLst/>
              <a:rect l="l" t="t" r="r" b="b"/>
              <a:pathLst>
                <a:path w="574040" h="573151">
                  <a:moveTo>
                    <a:pt x="287020" y="0"/>
                  </a:moveTo>
                  <a:cubicBezTo>
                    <a:pt x="128651" y="0"/>
                    <a:pt x="0" y="127762"/>
                    <a:pt x="0" y="286131"/>
                  </a:cubicBezTo>
                  <a:cubicBezTo>
                    <a:pt x="0" y="444500"/>
                    <a:pt x="128651" y="573151"/>
                    <a:pt x="287020" y="573151"/>
                  </a:cubicBezTo>
                  <a:cubicBezTo>
                    <a:pt x="445389" y="573151"/>
                    <a:pt x="574040" y="444627"/>
                    <a:pt x="574040" y="286131"/>
                  </a:cubicBezTo>
                  <a:cubicBezTo>
                    <a:pt x="574040" y="127635"/>
                    <a:pt x="445516" y="0"/>
                    <a:pt x="2870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22"/>
          <p:cNvSpPr/>
          <p:nvPr/>
        </p:nvSpPr>
        <p:spPr>
          <a:xfrm>
            <a:off x="2822762" y="3445564"/>
            <a:ext cx="439922" cy="439198"/>
          </a:xfrm>
          <a:custGeom>
            <a:avLst/>
            <a:gdLst/>
            <a:ahLst/>
            <a:cxnLst/>
            <a:rect l="l" t="t" r="r" b="b"/>
            <a:pathLst>
              <a:path w="439922" h="439198">
                <a:moveTo>
                  <a:pt x="0" y="0"/>
                </a:moveTo>
                <a:lnTo>
                  <a:pt x="439922" y="0"/>
                </a:lnTo>
                <a:lnTo>
                  <a:pt x="439922" y="439198"/>
                </a:lnTo>
                <a:lnTo>
                  <a:pt x="0" y="43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82" b="-8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 rot="5400000">
            <a:off x="2907344" y="3529441"/>
            <a:ext cx="271462" cy="271462"/>
            <a:chOff x="0" y="0"/>
            <a:chExt cx="361950" cy="3619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1356" y="0"/>
                  </a:moveTo>
                  <a:cubicBezTo>
                    <a:pt x="81280" y="0"/>
                    <a:pt x="0" y="81407"/>
                    <a:pt x="0" y="180594"/>
                  </a:cubicBezTo>
                  <a:cubicBezTo>
                    <a:pt x="0" y="280543"/>
                    <a:pt x="81280" y="361950"/>
                    <a:pt x="181356" y="361950"/>
                  </a:cubicBezTo>
                  <a:cubicBezTo>
                    <a:pt x="281432" y="361950"/>
                    <a:pt x="361950" y="280543"/>
                    <a:pt x="361950" y="180594"/>
                  </a:cubicBezTo>
                  <a:cubicBezTo>
                    <a:pt x="361950" y="81407"/>
                    <a:pt x="281305" y="0"/>
                    <a:pt x="181356" y="0"/>
                  </a:cubicBezTo>
                  <a:close/>
                </a:path>
              </a:pathLst>
            </a:custGeom>
            <a:solidFill>
              <a:srgbClr val="77C6F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Freeform 25"/>
          <p:cNvSpPr/>
          <p:nvPr/>
        </p:nvSpPr>
        <p:spPr>
          <a:xfrm>
            <a:off x="2902677" y="3524764"/>
            <a:ext cx="280797" cy="281521"/>
          </a:xfrm>
          <a:custGeom>
            <a:avLst/>
            <a:gdLst/>
            <a:ahLst/>
            <a:cxnLst/>
            <a:rect l="l" t="t" r="r" b="b"/>
            <a:pathLst>
              <a:path w="280797" h="281521">
                <a:moveTo>
                  <a:pt x="0" y="0"/>
                </a:moveTo>
                <a:lnTo>
                  <a:pt x="280797" y="0"/>
                </a:lnTo>
                <a:lnTo>
                  <a:pt x="280797" y="281521"/>
                </a:lnTo>
                <a:lnTo>
                  <a:pt x="0" y="281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28" r="-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3551044" y="2882884"/>
            <a:ext cx="53283" cy="349196"/>
          </a:xfrm>
          <a:custGeom>
            <a:avLst/>
            <a:gdLst/>
            <a:ahLst/>
            <a:cxnLst/>
            <a:rect l="l" t="t" r="r" b="b"/>
            <a:pathLst>
              <a:path w="53283" h="349196">
                <a:moveTo>
                  <a:pt x="0" y="0"/>
                </a:moveTo>
                <a:lnTo>
                  <a:pt x="53283" y="0"/>
                </a:lnTo>
                <a:lnTo>
                  <a:pt x="53283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146" r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3787921" y="8976236"/>
            <a:ext cx="53283" cy="349196"/>
          </a:xfrm>
          <a:custGeom>
            <a:avLst/>
            <a:gdLst/>
            <a:ahLst/>
            <a:cxnLst/>
            <a:rect l="l" t="t" r="r" b="b"/>
            <a:pathLst>
              <a:path w="53283" h="349196">
                <a:moveTo>
                  <a:pt x="0" y="0"/>
                </a:moveTo>
                <a:lnTo>
                  <a:pt x="53283" y="0"/>
                </a:lnTo>
                <a:lnTo>
                  <a:pt x="53283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146" r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966245" y="8133836"/>
            <a:ext cx="53283" cy="349196"/>
          </a:xfrm>
          <a:custGeom>
            <a:avLst/>
            <a:gdLst/>
            <a:ahLst/>
            <a:cxnLst/>
            <a:rect l="l" t="t" r="r" b="b"/>
            <a:pathLst>
              <a:path w="53283" h="349196">
                <a:moveTo>
                  <a:pt x="0" y="0"/>
                </a:moveTo>
                <a:lnTo>
                  <a:pt x="53282" y="0"/>
                </a:lnTo>
                <a:lnTo>
                  <a:pt x="53282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3146" r="-3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5676376" y="3800475"/>
            <a:ext cx="7681046" cy="243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>
                <a:solidFill>
                  <a:srgbClr val="49494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Thanks!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860</Words>
  <Application>Microsoft Office PowerPoint</Application>
  <PresentationFormat>Custom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Arimo</vt:lpstr>
      <vt:lpstr>Barlow Bold</vt:lpstr>
      <vt:lpstr>Calibri</vt:lpstr>
      <vt:lpstr>Arial</vt:lpstr>
      <vt:lpstr>Barlow</vt:lpstr>
      <vt:lpstr>TLWG Typewriter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Microcontroller.pptx</dc:title>
  <dc:creator>Apisit Klinkla</dc:creator>
  <cp:lastModifiedBy>Apisit Klinkla</cp:lastModifiedBy>
  <cp:revision>2</cp:revision>
  <dcterms:created xsi:type="dcterms:W3CDTF">2006-08-16T00:00:00Z</dcterms:created>
  <dcterms:modified xsi:type="dcterms:W3CDTF">2026-10-01T06:15:47Z</dcterms:modified>
  <dc:identifier>DAHWeEwe56s</dc:identifier>
</cp:coreProperties>
</file>